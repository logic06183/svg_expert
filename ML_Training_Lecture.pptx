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media/media10.mp4" ContentType="video/unknown"/>
  <Override PartName="/ppt/media/media11.mp4" ContentType="video/unknown"/>
  <Override PartName="/ppt/media/media2.mp4" ContentType="video/unknown"/>
  <Override PartName="/ppt/media/media3.mp4" ContentType="video/unknown"/>
  <Override PartName="/ppt/media/media4.mp4" ContentType="video/unknown"/>
  <Override PartName="/ppt/media/media5.mp4" ContentType="video/unknown"/>
  <Override PartName="/ppt/media/media6.mp4" ContentType="video/unknown"/>
  <Override PartName="/ppt/media/media7.mp4" ContentType="video/unknown"/>
  <Override PartName="/ppt/media/media8.mp4" ContentType="video/unknown"/>
  <Override PartName="/ppt/media/media9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for Climate-Health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Training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Session Overview</a:t>
            </a:r>
          </a:p>
        </p:txBody>
      </p:sp>
      <p:pic>
        <p:nvPicPr>
          <p:cNvPr id="4" name="Picture 3" descr="sess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Use Case: Climate &amp; Health Data</a:t>
            </a:r>
          </a:p>
        </p:txBody>
      </p:sp>
      <p:pic>
        <p:nvPicPr>
          <p:cNvPr id="4" name="Picture 3" descr="use_case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Our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Dataset Structure</a:t>
            </a:r>
          </a:p>
        </p:txBody>
      </p:sp>
      <p:pic>
        <p:nvPicPr>
          <p:cNvPr id="4" name="Picture 3" descr="dataset_structure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Data Preprocessing Pipeline</a:t>
            </a:r>
          </a:p>
        </p:txBody>
      </p:sp>
      <p:pic>
        <p:nvPicPr>
          <p:cNvPr id="4" name="Picture 3" descr="data_preprocess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Feature Patterns in the Data</a:t>
            </a:r>
          </a:p>
        </p:txBody>
      </p:sp>
      <p:pic>
        <p:nvPicPr>
          <p:cNvPr id="4" name="Picture 3" descr="feature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Machine Learning Models Learn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Learning Mechanisms Across Models</a:t>
            </a:r>
          </a:p>
        </p:txBody>
      </p:sp>
      <p:pic>
        <p:nvPicPr>
          <p:cNvPr id="4" name="Picture 3" descr="how_models_le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Gradient Descent in Action</a:t>
            </a:r>
          </a:p>
        </p:txBody>
      </p:sp>
      <p:pic>
        <p:nvPicPr>
          <p:cNvPr id="4" name="gradient_descent_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097280"/>
            <a:ext cx="822960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Decision Trees &amp; Ensembles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How Decision Trees Build</a:t>
            </a:r>
          </a:p>
        </p:txBody>
      </p:sp>
      <p:pic>
        <p:nvPicPr>
          <p:cNvPr id="4" name="decision_tree_build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097280"/>
            <a:ext cx="822960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Random Forest: Ensemble Power</a:t>
            </a:r>
          </a:p>
        </p:txBody>
      </p:sp>
      <p:pic>
        <p:nvPicPr>
          <p:cNvPr id="4" name="random_forest_ensemb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097280"/>
            <a:ext cx="822960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Gradient Boosting: Sequential Learning</a:t>
            </a:r>
          </a:p>
        </p:txBody>
      </p:sp>
      <p:pic>
        <p:nvPicPr>
          <p:cNvPr id="4" name="gradient_boosting_sequenc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097280"/>
            <a:ext cx="822960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Backpropagation Flow</a:t>
            </a:r>
          </a:p>
        </p:txBody>
      </p:sp>
      <p:pic>
        <p:nvPicPr>
          <p:cNvPr id="4" name="backpropagation_flow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097280"/>
            <a:ext cx="822960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Critical Concepts in 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Bias-Variance Tradeoff</a:t>
            </a:r>
          </a:p>
        </p:txBody>
      </p:sp>
      <p:pic>
        <p:nvPicPr>
          <p:cNvPr id="4" name="bias_variance_tradeof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097280"/>
            <a:ext cx="822960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Overfitting Behavior Across Models</a:t>
            </a:r>
          </a:p>
        </p:txBody>
      </p:sp>
      <p:pic>
        <p:nvPicPr>
          <p:cNvPr id="4" name="Picture 3" descr="overfitt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The Double Descent Phenomenon</a:t>
            </a:r>
          </a:p>
        </p:txBody>
      </p:sp>
      <p:pic>
        <p:nvPicPr>
          <p:cNvPr id="4" name="double_descent_phenomen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097280"/>
            <a:ext cx="822960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Learning Rate Effects</a:t>
            </a:r>
          </a:p>
        </p:txBody>
      </p:sp>
      <p:pic>
        <p:nvPicPr>
          <p:cNvPr id="4" name="learning_rate_effec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097280"/>
            <a:ext cx="822960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Optimizing Model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Tree Depth Impact</a:t>
            </a:r>
          </a:p>
        </p:txBody>
      </p:sp>
      <p:pic>
        <p:nvPicPr>
          <p:cNvPr id="4" name="hyperparameter_tuning_tree_depth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097280"/>
            <a:ext cx="822960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Regularization Effects</a:t>
            </a:r>
          </a:p>
        </p:txBody>
      </p:sp>
      <p:pic>
        <p:nvPicPr>
          <p:cNvPr id="4" name="hyperparameter_tuning_regulariz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097280"/>
            <a:ext cx="822960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Choosing the Right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Model Selection Flowchart</a:t>
            </a:r>
          </a:p>
        </p:txBody>
      </p:sp>
      <p:pic>
        <p:nvPicPr>
          <p:cNvPr id="4" name="Picture 3" descr="model_selectio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Comprehensive Model Comparison</a:t>
            </a:r>
          </a:p>
        </p:txBody>
      </p:sp>
      <p:pic>
        <p:nvPicPr>
          <p:cNvPr id="4" name="Picture 3" descr="model_comparis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Model Pipeline Comparison</a:t>
            </a:r>
          </a:p>
        </p:txBody>
      </p:sp>
      <p:pic>
        <p:nvPicPr>
          <p:cNvPr id="4" name="Picture 3" descr="model_pip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Model Selection for This Dataset</a:t>
            </a:r>
          </a:p>
        </p:txBody>
      </p:sp>
      <p:pic>
        <p:nvPicPr>
          <p:cNvPr id="4" name="Picture 3" descr="model_selection_for_this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Model Predictions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The Interpretability Spectrum</a:t>
            </a:r>
          </a:p>
        </p:txBody>
      </p:sp>
      <p:pic>
        <p:nvPicPr>
          <p:cNvPr id="4" name="Picture 3" descr="interpretability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SHAP: Bridging the Gap</a:t>
            </a:r>
          </a:p>
        </p:txBody>
      </p:sp>
      <p:pic>
        <p:nvPicPr>
          <p:cNvPr id="4" name="Picture 3" descr="shap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Feature Importance Evolution</a:t>
            </a:r>
          </a:p>
        </p:txBody>
      </p:sp>
      <p:pic>
        <p:nvPicPr>
          <p:cNvPr id="4" name="feature_importance_buildu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097280"/>
            <a:ext cx="8229600" cy="530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SHAP Interpretation Workflow</a:t>
            </a:r>
          </a:p>
        </p:txBody>
      </p:sp>
      <p:pic>
        <p:nvPicPr>
          <p:cNvPr id="4" name="Picture 3" descr="interpretation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SHAP Beeswarm Plot</a:t>
            </a:r>
          </a:p>
        </p:txBody>
      </p:sp>
      <p:pic>
        <p:nvPicPr>
          <p:cNvPr id="4" name="Picture 3" descr="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SHAP Dependence Analysis</a:t>
            </a:r>
          </a:p>
        </p:txBody>
      </p:sp>
      <p:pic>
        <p:nvPicPr>
          <p:cNvPr id="4" name="Picture 3" descr="shap_depen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Results &amp; Recommendations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Results Comparison Dashboard</a:t>
            </a:r>
          </a:p>
        </p:txBody>
      </p:sp>
      <p:pic>
        <p:nvPicPr>
          <p:cNvPr id="4" name="Picture 3" descr="results_comparis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Complete Workflow</a:t>
            </a:r>
          </a:p>
        </p:txBody>
      </p:sp>
      <p:pic>
        <p:nvPicPr>
          <p:cNvPr id="4" name="Picture 3" descr="complete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